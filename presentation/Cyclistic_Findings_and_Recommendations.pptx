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Avg. ride duration (min)</c:v>
                </c:pt>
              </c:strCache>
            </c:strRef>
          </c:tx>
          <c:spPr>
            <a:solidFill>
              <a:srgbClr val="3D6FBE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Member</c:v>
                </c:pt>
                <c:pt idx="1">
                  <c:v>Casual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11.95</c:v>
                </c:pt>
                <c:pt idx="1">
                  <c:v>17.760000000000002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618-405F-A1E1-D157EF547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IN"/>
                  <a:t>Minutes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8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Cyclistic Bike-Share Analysis</a:t>
            </a:r>
          </a:p>
          <a:p>
            <a:pPr>
              <a:defRPr sz="3000">
                <a:solidFill>
                  <a:srgbClr val="DCE6F5"/>
                </a:solidFill>
              </a:defRPr>
            </a:pPr>
            <a:r>
              <a:t>Member vs. Casual Riders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rPr dirty="0"/>
              <a:t>Findings &amp; Recommendations | September 2025 –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166360"/>
            <a:ext cx="97620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E6F5"/>
                </a:solidFill>
              </a:defRPr>
            </a:pPr>
            <a:r>
              <a:rPr sz="2000" dirty="0"/>
              <a:t>Business question: How do annual members and casual riders use </a:t>
            </a:r>
            <a:r>
              <a:rPr sz="2000" dirty="0" err="1"/>
              <a:t>Cyclistic</a:t>
            </a:r>
            <a:r>
              <a:rPr sz="2000" dirty="0"/>
              <a:t> bikes differently?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73B69"/>
                </a:solidFill>
              </a:defRPr>
            </a:pPr>
            <a:r>
              <a:t>6,107,959</a:t>
            </a:r>
          </a:p>
          <a:p>
            <a:pPr algn="ctr">
              <a:defRPr sz="1200">
                <a:solidFill>
                  <a:srgbClr val="646E78"/>
                </a:solidFill>
              </a:defRPr>
            </a:pPr>
            <a:r>
              <a:t>Total rides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9601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D6FBE"/>
                </a:solidFill>
              </a:defRPr>
            </a:pPr>
            <a:r>
              <a:t>64.72%</a:t>
            </a:r>
          </a:p>
          <a:p>
            <a:pPr algn="ctr">
              <a:defRPr sz="1200">
                <a:solidFill>
                  <a:srgbClr val="646E78"/>
                </a:solidFill>
              </a:defRPr>
            </a:pPr>
            <a:r>
              <a:t>Member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9601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4841F"/>
                </a:solidFill>
              </a:defRPr>
            </a:pPr>
            <a:r>
              <a:t>35.28%</a:t>
            </a:r>
          </a:p>
          <a:p>
            <a:pPr algn="ctr">
              <a:defRPr sz="1200">
                <a:solidFill>
                  <a:srgbClr val="646E78"/>
                </a:solidFill>
              </a:defRPr>
            </a:pPr>
            <a:r>
              <a:t>Casual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4" y="96012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4841F"/>
                </a:solidFill>
              </a:defRPr>
            </a:pPr>
            <a:r>
              <a:t>17.76 min</a:t>
            </a:r>
          </a:p>
          <a:p>
            <a:pPr algn="ctr">
              <a:defRPr sz="1200">
                <a:solidFill>
                  <a:srgbClr val="646E78"/>
                </a:solidFill>
              </a:defRPr>
            </a:pPr>
            <a:r>
              <a:t>Casual avg. 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11155680" cy="333756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73B69"/>
                </a:solidFill>
              </a:defRPr>
            </a:pPr>
            <a:r>
              <a:t>What the data shows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</a:defRPr>
            </a:pPr>
            <a:r>
              <a:t>• Members account for the larger share of rides, while casual riders represent more than one-third of total usage.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</a:defRPr>
            </a:pPr>
            <a:r>
              <a:t>• Casual rides average 17.76 minutes versus 11.95 minutes for members — about 48.6% longer.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</a:defRPr>
            </a:pPr>
            <a:r>
              <a:t>• Members are more weekday-focused: 76.7% of member rides occur on weekdays.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</a:defRPr>
            </a:pPr>
            <a:r>
              <a:t>• Casual riders have a higher weekend share: 37.3% of their rides occur on weekends.</a:t>
            </a:r>
          </a:p>
          <a:p>
            <a:pPr>
              <a:spcAft>
                <a:spcPts val="800"/>
              </a:spcAft>
              <a:defRPr sz="1600">
                <a:solidFill>
                  <a:srgbClr val="233041"/>
                </a:solidFill>
              </a:defRPr>
            </a:pPr>
            <a:r>
              <a:t>• Electric bikes are the most-used bike type for both groups, with higher electric-bike share among casual riders (73.7%).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How Member and Casual Riders Differ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05156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63640" y="1051560"/>
            <a:ext cx="539496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t"/>
          <a:lstStyle/>
          <a:p>
            <a:pPr algn="ctr">
              <a:spcAft>
                <a:spcPts val="800"/>
              </a:spcAft>
              <a:defRPr sz="1900" b="1">
                <a:solidFill>
                  <a:srgbClr val="173B69"/>
                </a:solidFill>
              </a:defRPr>
            </a:pPr>
            <a:r>
              <a:t>Behavior pattern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Weekday usage: Members 76.7% | Casual 62.7%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Weekend usage: Members 23.3% | Casual 37.3%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Casual riders take longer trips on average.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The pattern suggests members use the system more regularly for weekday travel, while casual usage is relatively more concentrated on weekends.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Seasonality &amp; Bike-Type Usage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548640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t"/>
          <a:lstStyle/>
          <a:p>
            <a:pPr algn="ctr">
              <a:spcAft>
                <a:spcPts val="800"/>
              </a:spcAft>
              <a:defRPr sz="2000" b="1">
                <a:solidFill>
                  <a:srgbClr val="F4841F"/>
                </a:solidFill>
              </a:defRPr>
            </a:pPr>
            <a:r>
              <a:t>Seasonal pattern</a:t>
            </a:r>
          </a:p>
          <a:p>
            <a:pPr>
              <a:spcAft>
                <a:spcPts val="800"/>
              </a:spcAft>
              <a:defRPr sz="1800">
                <a:solidFill>
                  <a:srgbClr val="233041"/>
                </a:solidFill>
              </a:defRPr>
            </a:pPr>
            <a:r>
              <a:t>• Casual ridership is seasonal: its share falls to about 17.9% in January and rises to about 41.1% in July.</a:t>
            </a:r>
          </a:p>
          <a:p>
            <a:pPr>
              <a:spcAft>
                <a:spcPts val="800"/>
              </a:spcAft>
              <a:defRPr sz="1800">
                <a:solidFill>
                  <a:srgbClr val="233041"/>
                </a:solidFill>
              </a:defRPr>
            </a:pPr>
            <a:r>
              <a:t>• Overall ride volume is also much higher in warmer months than in the winter period.</a:t>
            </a:r>
          </a:p>
          <a:p>
            <a:pPr>
              <a:spcAft>
                <a:spcPts val="800"/>
              </a:spcAft>
              <a:defRPr sz="1800">
                <a:solidFill>
                  <a:srgbClr val="233041"/>
                </a:solidFill>
              </a:defRPr>
            </a:pPr>
            <a:r>
              <a:t>• This seasonality matters when planning membership acquisition campaigns.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51560"/>
            <a:ext cx="539496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t"/>
          <a:lstStyle/>
          <a:p>
            <a:pPr algn="ctr">
              <a:spcAft>
                <a:spcPts val="800"/>
              </a:spcAft>
              <a:defRPr sz="2000" b="1">
                <a:solidFill>
                  <a:srgbClr val="3D6FBE"/>
                </a:solidFill>
              </a:defRPr>
            </a:pPr>
            <a:r>
              <a:t>Bike type pattern</a:t>
            </a:r>
          </a:p>
          <a:p>
            <a:pPr>
              <a:spcAft>
                <a:spcPts val="800"/>
              </a:spcAft>
              <a:defRPr sz="1800">
                <a:solidFill>
                  <a:srgbClr val="233041"/>
                </a:solidFill>
              </a:defRPr>
            </a:pPr>
            <a:r>
              <a:t>• Electric bikes account for 73.7% of casual rides.</a:t>
            </a:r>
          </a:p>
          <a:p>
            <a:pPr>
              <a:spcAft>
                <a:spcPts val="800"/>
              </a:spcAft>
              <a:defRPr sz="1800">
                <a:solidFill>
                  <a:srgbClr val="233041"/>
                </a:solidFill>
              </a:defRPr>
            </a:pPr>
            <a:r>
              <a:t>• Electric bikes account for 68.1% of member rides.</a:t>
            </a:r>
          </a:p>
          <a:p>
            <a:pPr>
              <a:spcAft>
                <a:spcPts val="800"/>
              </a:spcAft>
              <a:defRPr sz="1800">
                <a:solidFill>
                  <a:srgbClr val="233041"/>
                </a:solidFill>
              </a:defRPr>
            </a:pPr>
            <a:r>
              <a:t>• Classic bikes make up the remaining share for both groups.</a:t>
            </a:r>
          </a:p>
          <a:p>
            <a:pPr>
              <a:spcAft>
                <a:spcPts val="800"/>
              </a:spcAft>
              <a:defRPr sz="1800">
                <a:solidFill>
                  <a:srgbClr val="233041"/>
                </a:solidFill>
              </a:defRPr>
            </a:pPr>
            <a:r>
              <a:t>• Electric-bike usage is therefore relevant to both retention and conversion messaging.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Dashboard</a:t>
            </a:r>
          </a:p>
        </p:txBody>
      </p:sp>
      <p:pic>
        <p:nvPicPr>
          <p:cNvPr id="6" name="Picture 5" descr="Screenshot 2026-10-01 094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91732"/>
            <a:ext cx="11155680" cy="59827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Recommendations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960120"/>
            <a:ext cx="438912" cy="438912"/>
          </a:xfrm>
          <a:prstGeom prst="ellipse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941832"/>
            <a:ext cx="1002114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B69"/>
                </a:solidFill>
              </a:defRPr>
            </a:pPr>
            <a:r>
              <a:rPr dirty="0"/>
              <a:t>Target casual riders with membership offers around weekends</a:t>
            </a:r>
          </a:p>
          <a:p>
            <a:pPr>
              <a:defRPr sz="1350">
                <a:solidFill>
                  <a:srgbClr val="233041"/>
                </a:solidFill>
              </a:defRPr>
            </a:pPr>
            <a:r>
              <a:rPr dirty="0"/>
              <a:t>Casual usage has a higher weekend share (37.3%). Test weekend-to-membership messaging, such as limited-time membership incentives or </a:t>
            </a:r>
            <a:endParaRPr lang="en-IN" dirty="0"/>
          </a:p>
          <a:p>
            <a:pPr>
              <a:defRPr sz="1350">
                <a:solidFill>
                  <a:srgbClr val="233041"/>
                </a:solidFill>
              </a:defRPr>
            </a:pPr>
            <a:r>
              <a:rPr dirty="0"/>
              <a:t>trial offers.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21991"/>
            <a:ext cx="438912" cy="438912"/>
          </a:xfrm>
          <a:prstGeom prst="ellipse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03703"/>
            <a:ext cx="102160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B69"/>
                </a:solidFill>
              </a:defRPr>
            </a:pPr>
            <a:r>
              <a:rPr dirty="0"/>
              <a:t>Use ride-duration behavior in membership messaging</a:t>
            </a:r>
          </a:p>
          <a:p>
            <a:pPr>
              <a:defRPr sz="1350">
                <a:solidFill>
                  <a:srgbClr val="233041"/>
                </a:solidFill>
              </a:defRPr>
            </a:pPr>
            <a:r>
              <a:rPr dirty="0"/>
              <a:t>Casual rides average 17.76 minutes, substantially longer than member rides. Test messaging focused on the value of repeated rides and longer </a:t>
            </a:r>
            <a:endParaRPr lang="en-IN" dirty="0"/>
          </a:p>
          <a:p>
            <a:pPr>
              <a:defRPr sz="1350">
                <a:solidFill>
                  <a:srgbClr val="233041"/>
                </a:solidFill>
              </a:defRPr>
            </a:pPr>
            <a:r>
              <a:rPr dirty="0"/>
              <a:t>recreational trips.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83863"/>
            <a:ext cx="438912" cy="438912"/>
          </a:xfrm>
          <a:prstGeom prst="ellipse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65575"/>
            <a:ext cx="100380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B69"/>
                </a:solidFill>
              </a:defRPr>
            </a:pPr>
            <a:r>
              <a:rPr dirty="0"/>
              <a:t>Time campaigns around the seasonal demand cycle</a:t>
            </a:r>
          </a:p>
          <a:p>
            <a:pPr>
              <a:defRPr sz="1350">
                <a:solidFill>
                  <a:srgbClr val="233041"/>
                </a:solidFill>
              </a:defRPr>
            </a:pPr>
            <a:r>
              <a:rPr dirty="0"/>
              <a:t>Casual share rises sharply during warmer months and peaks around July. Increase acquisition experiments before and during the high-usage </a:t>
            </a:r>
            <a:endParaRPr lang="en-IN" dirty="0"/>
          </a:p>
          <a:p>
            <a:pPr>
              <a:defRPr sz="1350">
                <a:solidFill>
                  <a:srgbClr val="233041"/>
                </a:solidFill>
              </a:defRPr>
            </a:pPr>
            <a:r>
              <a:rPr dirty="0"/>
              <a:t>season.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745736"/>
            <a:ext cx="438912" cy="438912"/>
          </a:xfrm>
          <a:prstGeom prst="ellipse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727448"/>
            <a:ext cx="102412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B69"/>
                </a:solidFill>
              </a:defRPr>
            </a:pPr>
            <a:r>
              <a:t>Include electric-bike availability in conversion campaigns</a:t>
            </a:r>
          </a:p>
          <a:p>
            <a:pPr>
              <a:defRPr sz="1350">
                <a:solidFill>
                  <a:srgbClr val="233041"/>
                </a:solidFill>
              </a:defRPr>
            </a:pPr>
            <a:r>
              <a:t>Electric bikes are the most-used bike type for both groups. Highlight electric-bike access where it is relevant to membership value.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How to Measure the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548640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t"/>
          <a:lstStyle/>
          <a:p>
            <a:pPr algn="ctr">
              <a:spcAft>
                <a:spcPts val="800"/>
              </a:spcAft>
              <a:defRPr sz="1900" b="1">
                <a:solidFill>
                  <a:srgbClr val="173B69"/>
                </a:solidFill>
              </a:defRPr>
            </a:pPr>
            <a:r>
              <a:t>Suggested KPIs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Track casual-to-member conversion rate after each campaign.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Compare conversion by campaign timing: weekday vs weekend and pre-season vs peak season.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Measure membership uptake among riders who frequently use electric bikes.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Monitor changes in casual ride volume and average ride duration after campaigns.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51560"/>
            <a:ext cx="539496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t"/>
          <a:lstStyle/>
          <a:p>
            <a:pPr algn="ctr">
              <a:spcAft>
                <a:spcPts val="800"/>
              </a:spcAft>
              <a:defRPr sz="1900" b="1">
                <a:solidFill>
                  <a:srgbClr val="F4841F"/>
                </a:solidFill>
              </a:defRPr>
            </a:pPr>
            <a:r>
              <a:t>Testing approach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Run the recommendations as controlled tests where possible.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Compare campaign groups with a similar baseline period.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Use the dashboard to monitor changes over time.</a:t>
            </a:r>
          </a:p>
          <a:p>
            <a:pPr>
              <a:spcAft>
                <a:spcPts val="800"/>
              </a:spcAft>
              <a:defRPr sz="1700">
                <a:solidFill>
                  <a:srgbClr val="233041"/>
                </a:solidFill>
              </a:defRPr>
            </a:pPr>
            <a:r>
              <a:t>• Iterate offers based on observed conversion rather than assuming every casual rider has the same motivation.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332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The analysis shows clear behavioral differences between members and casual riders:</a:t>
            </a:r>
          </a:p>
          <a:p>
            <a:pPr>
              <a:spcAft>
                <a:spcPts val="1000"/>
              </a:spcAft>
              <a:defRPr sz="1800">
                <a:solidFill>
                  <a:srgbClr val="E1EBF8"/>
                </a:solidFill>
              </a:defRPr>
            </a:pPr>
            <a:r>
              <a:t>• Members are more weekday-focused.</a:t>
            </a:r>
          </a:p>
          <a:p>
            <a:pPr>
              <a:spcAft>
                <a:spcPts val="1000"/>
              </a:spcAft>
              <a:defRPr sz="1800">
                <a:solidFill>
                  <a:srgbClr val="E1EBF8"/>
                </a:solidFill>
              </a:defRPr>
            </a:pPr>
            <a:r>
              <a:t>• Casual riders use weekends more and take longer rides on average.</a:t>
            </a:r>
          </a:p>
          <a:p>
            <a:pPr>
              <a:spcAft>
                <a:spcPts val="1000"/>
              </a:spcAft>
              <a:defRPr sz="1800">
                <a:solidFill>
                  <a:srgbClr val="E1EBF8"/>
                </a:solidFill>
              </a:defRPr>
            </a:pPr>
            <a:r>
              <a:t>• Electric bikes dominate usage for both groups.</a:t>
            </a:r>
          </a:p>
          <a:p>
            <a:pPr>
              <a:spcAft>
                <a:spcPts val="1000"/>
              </a:spcAft>
              <a:defRPr sz="1800">
                <a:solidFill>
                  <a:srgbClr val="E1EBF8"/>
                </a:solidFill>
              </a:defRPr>
            </a:pPr>
            <a:r>
              <a:t>• These patterns provide specific segments and timing for membership-conversion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4841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616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Aggarwal</cp:lastModifiedBy>
  <cp:revision>2</cp:revision>
  <dcterms:created xsi:type="dcterms:W3CDTF">2013-01-27T09:14:16Z</dcterms:created>
  <dcterms:modified xsi:type="dcterms:W3CDTF">2026-10-01T10:36:58Z</dcterms:modified>
  <cp:category/>
</cp:coreProperties>
</file>